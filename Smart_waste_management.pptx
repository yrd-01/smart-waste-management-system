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ey reflective floor"/>
          <p:cNvSpPr>
            <a:spLocks noGrp="1"/>
          </p:cNvSpPr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Presentation Title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>
            <a:spLocks noGrp="1"/>
          </p:cNvSpPr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ling"/>
          <p:cNvSpPr>
            <a:spLocks noGrp="1"/>
          </p:cNvSpPr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7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8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2000" spc="-119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0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>
            <a:spLocks noGrp="1"/>
          </p:cNvSpPr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lack and white close-up of a curved roof"/>
          <p:cNvSpPr>
            <a:spLocks noGrp="1"/>
          </p:cNvSpPr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Low angle view of a metal spiral staircase"/>
          <p:cNvSpPr>
            <a:spLocks noGrp="1"/>
          </p:cNvSpPr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>
            <a:spLocks noGrp="1"/>
          </p:cNvSpPr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uided By:-…"/>
          <p:cNvSpPr txBox="1">
            <a:spLocks noGrp="1"/>
          </p:cNvSpPr>
          <p:nvPr>
            <p:ph type="body" idx="21"/>
          </p:nvPr>
        </p:nvSpPr>
        <p:spPr>
          <a:xfrm>
            <a:off x="1206499" y="9448799"/>
            <a:ext cx="10667048" cy="34805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anchor="ctr"/>
          <a:lstStyle/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Guided By:-</a:t>
            </a:r>
          </a:p>
          <a:p>
            <a: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Prof. Sobhan Kanti Dhara &amp; Prof. A.K Sahoo</a:t>
            </a:r>
          </a:p>
        </p:txBody>
      </p:sp>
      <p:sp>
        <p:nvSpPr>
          <p:cNvPr id="172" name="National Institute of Technology, Rourkela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 anchor="ctr"/>
          <a:lstStyle>
            <a:lvl1pPr algn="ctr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National Institute of Technology, Rourkela</a:t>
            </a:r>
          </a:p>
        </p:txBody>
      </p:sp>
      <p:sp>
        <p:nvSpPr>
          <p:cNvPr id="173" name="Smart Waste Management System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anchor="ctr"/>
          <a:lstStyle>
            <a:lvl1pPr algn="ctr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Smart Waste Management System</a:t>
            </a:r>
          </a:p>
        </p:txBody>
      </p:sp>
      <p:sp>
        <p:nvSpPr>
          <p:cNvPr id="174" name="Submitted By:-…"/>
          <p:cNvSpPr txBox="1"/>
          <p:nvPr/>
        </p:nvSpPr>
        <p:spPr>
          <a:xfrm>
            <a:off x="12502460" y="9448799"/>
            <a:ext cx="10667048" cy="3480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algn="ctr" defTabSz="825500">
              <a:spcBef>
                <a:spcPts val="0"/>
              </a:spcBef>
              <a:defRPr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Submitted By:-</a:t>
            </a:r>
          </a:p>
          <a:p>
            <a:pPr algn="ctr" defTabSz="825500">
              <a:spcBef>
                <a:spcPts val="0"/>
              </a:spcBef>
              <a:defRPr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Satyajit Barik (122EC0123),</a:t>
            </a:r>
          </a:p>
          <a:p>
            <a:pPr algn="ctr" defTabSz="825500">
              <a:spcBef>
                <a:spcPts val="0"/>
              </a:spcBef>
              <a:defRPr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Yash Raj Dash (122EC0126),</a:t>
            </a:r>
          </a:p>
          <a:p>
            <a:pPr algn="ctr" defTabSz="825500">
              <a:spcBef>
                <a:spcPts val="0"/>
              </a:spcBef>
              <a:defRPr sz="33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Kedarnath Jani (122EC0129)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roject Overview &amp; Abstract:-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Project Overview &amp; Abstract:-</a:t>
            </a:r>
          </a:p>
        </p:txBody>
      </p:sp>
      <p:sp>
        <p:nvSpPr>
          <p:cNvPr id="177" name="The Problem: Inefficient waste collection and lack of automated sorting.…"/>
          <p:cNvSpPr txBox="1">
            <a:spLocks noGrp="1"/>
          </p:cNvSpPr>
          <p:nvPr>
            <p:ph type="body" idx="1"/>
          </p:nvPr>
        </p:nvSpPr>
        <p:spPr>
          <a:xfrm>
            <a:off x="1206500" y="3195841"/>
            <a:ext cx="21971000" cy="930867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The Problem:</a:t>
            </a:r>
            <a:r>
              <a:t> Inefficient waste collection and lack of automated sorting.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The Solution:</a:t>
            </a:r>
            <a:r>
              <a:t> A dual-approach system combining: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Real-time Monitoring:</a:t>
            </a:r>
            <a:r>
              <a:t> Arduino-based sensors for bin fill levels.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Automated Classification:</a:t>
            </a:r>
            <a:r>
              <a:t> Deep learning models to identify waste types.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Key Achievement:</a:t>
            </a:r>
            <a:r>
              <a:t> 89% accuracy in predicting bin status and 72% accuracy in waste image classification.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Focus on automation and smart decision-making.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WhatsApp Image 2026-04-06 at 19.48.54.jpeg" descr="WhatsApp Image 2026-04-06 at 19.48.54.jpe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 t="11344" b="18591"/>
          <a:stretch>
            <a:fillRect/>
          </a:stretch>
        </p:blipFill>
        <p:spPr>
          <a:xfrm>
            <a:off x="11770146" y="4269561"/>
            <a:ext cx="12013171" cy="63126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</p:spPr>
      </p:pic>
      <p:sp>
        <p:nvSpPr>
          <p:cNvPr id="180" name="Objective: To measure bin fullness and detect object presence in real-time."/>
          <p:cNvSpPr txBox="1">
            <a:spLocks noGrp="1"/>
          </p:cNvSpPr>
          <p:nvPr>
            <p:ph type="body" idx="22"/>
          </p:nvPr>
        </p:nvSpPr>
        <p:spPr>
          <a:xfrm>
            <a:off x="1206500" y="2324100"/>
            <a:ext cx="22449523" cy="154547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Objective:</a:t>
            </a:r>
            <a:r>
              <a:t> To measure bin fullness and detect object presence in real-time.</a:t>
            </a:r>
          </a:p>
        </p:txBody>
      </p:sp>
      <p:sp>
        <p:nvSpPr>
          <p:cNvPr id="181" name="Part 1: Sensor-Based Bin Monitoring"/>
          <p:cNvSpPr txBox="1">
            <a:spLocks noGrp="1"/>
          </p:cNvSpPr>
          <p:nvPr>
            <p:ph type="title"/>
          </p:nvPr>
        </p:nvSpPr>
        <p:spPr>
          <a:xfrm>
            <a:off x="1206500" y="635000"/>
            <a:ext cx="22449523" cy="1689100"/>
          </a:xfrm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Part 1: Sensor-Based Bin Monitoring</a:t>
            </a:r>
          </a:p>
        </p:txBody>
      </p:sp>
      <p:sp>
        <p:nvSpPr>
          <p:cNvPr id="182" name="Core Hardware: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Hardware: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Arduino Board:</a:t>
            </a:r>
            <a:r>
              <a:t> The central processing unit.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Ultrasonic Sensor:</a:t>
            </a:r>
            <a:r>
              <a:t> Measures distance to the waste surface to calculate volume.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Infrared (IR) Sensor:</a:t>
            </a:r>
            <a:r>
              <a:t> Detects if a person or object is near the bin.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Update Interval:</a:t>
            </a:r>
            <a:r>
              <a:t> System outputs data every 5 seconds.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WhatsApp Image 2026-04-06 at 19.49.17.jpeg" descr="WhatsApp Image 2026-04-06 at 19.49.17.jpe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/>
          <a:stretch>
            <a:fillRect/>
          </a:stretch>
        </p:blipFill>
        <p:spPr>
          <a:xfrm>
            <a:off x="493085" y="572467"/>
            <a:ext cx="4838701" cy="6451601"/>
          </a:xfrm>
          <a:prstGeom prst="rect">
            <a:avLst/>
          </a:prstGeom>
        </p:spPr>
      </p:pic>
      <p:pic>
        <p:nvPicPr>
          <p:cNvPr id="185" name="WhatsApp Image 2026-04-06 at 19.49.59.jpeg" descr="WhatsApp Image 2026-04-06 at 19.49.59.jpeg"/>
          <p:cNvPicPr>
            <a:picLocks noGrp="1" noChangeAspect="1"/>
          </p:cNvPicPr>
          <p:nvPr>
            <p:ph type="pic" idx="22"/>
          </p:nvPr>
        </p:nvPicPr>
        <p:blipFill>
          <a:blip r:embed="rId4"/>
          <a:srcRect t="39903" r="38107" b="41193"/>
          <a:stretch>
            <a:fillRect/>
          </a:stretch>
        </p:blipFill>
        <p:spPr>
          <a:xfrm>
            <a:off x="494185" y="7367795"/>
            <a:ext cx="4836421" cy="1688619"/>
          </a:xfrm>
          <a:prstGeom prst="rect">
            <a:avLst/>
          </a:prstGeom>
        </p:spPr>
      </p:pic>
      <p:pic>
        <p:nvPicPr>
          <p:cNvPr id="186" name="WhatsApp Image 2026-04-06 at 19.51.06.jpeg" descr="WhatsApp Image 2026-04-06 at 19.51.06.jpeg"/>
          <p:cNvPicPr>
            <a:picLocks noGrp="1" noChangeAspect="1"/>
          </p:cNvPicPr>
          <p:nvPr>
            <p:ph type="pic" idx="23"/>
          </p:nvPr>
        </p:nvPicPr>
        <p:blipFill>
          <a:blip r:embed="rId5"/>
          <a:srcRect/>
          <a:stretch>
            <a:fillRect/>
          </a:stretch>
        </p:blipFill>
        <p:spPr>
          <a:xfrm>
            <a:off x="6370781" y="583381"/>
            <a:ext cx="4822377" cy="6429836"/>
          </a:xfrm>
          <a:prstGeom prst="rect">
            <a:avLst/>
          </a:prstGeom>
        </p:spPr>
      </p:pic>
      <p:pic>
        <p:nvPicPr>
          <p:cNvPr id="187" name="WhatsApp Image 2026-04-06 at 19.51.21.jpeg" descr="WhatsApp Image 2026-04-06 at 19.51.21.jpeg"/>
          <p:cNvPicPr>
            <a:picLocks noChangeAspect="1"/>
          </p:cNvPicPr>
          <p:nvPr/>
        </p:nvPicPr>
        <p:blipFill>
          <a:blip r:embed="rId6"/>
          <a:srcRect t="33708" r="48432" b="50209"/>
          <a:stretch>
            <a:fillRect/>
          </a:stretch>
        </p:blipFill>
        <p:spPr>
          <a:xfrm>
            <a:off x="6350120" y="7422793"/>
            <a:ext cx="4863762" cy="15786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WhatsApp Image 2026-04-07 at 00.11.27.jpeg" descr="WhatsApp Image 2026-04-07 at 00.11.27.jpeg"/>
          <p:cNvPicPr>
            <a:picLocks noChangeAspect="1"/>
          </p:cNvPicPr>
          <p:nvPr/>
        </p:nvPicPr>
        <p:blipFill>
          <a:blip r:embed="rId7"/>
          <a:srcRect r="4290"/>
          <a:stretch>
            <a:fillRect/>
          </a:stretch>
        </p:blipFill>
        <p:spPr>
          <a:xfrm>
            <a:off x="12890846" y="677999"/>
            <a:ext cx="10318786" cy="7756738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esult :-…"/>
          <p:cNvSpPr txBox="1">
            <a:spLocks noGrp="1"/>
          </p:cNvSpPr>
          <p:nvPr>
            <p:ph type="body" sz="half" idx="4294967295"/>
          </p:nvPr>
        </p:nvSpPr>
        <p:spPr>
          <a:xfrm>
            <a:off x="1037557" y="9848383"/>
            <a:ext cx="21971001" cy="3256817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Result :-</a:t>
            </a:r>
            <a:endParaRPr b="0" u="none"/>
          </a:p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 u="none"/>
              <a:t>The system accurately measures bin fill level and triggers an alert when it exceeds the threshold.</a:t>
            </a:r>
          </a:p>
          <a:p>
            <a:pPr>
              <a:defRPr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 u="none"/>
              <a:t>Arduino processes inputs from ultrasonic and IR sensors to monitor bin status and detect objects.</a:t>
            </a:r>
          </a:p>
        </p:txBody>
      </p:sp>
      <p:sp>
        <p:nvSpPr>
          <p:cNvPr id="190" name="Figure:-Circuit Diagram"/>
          <p:cNvSpPr txBox="1"/>
          <p:nvPr/>
        </p:nvSpPr>
        <p:spPr>
          <a:xfrm>
            <a:off x="12934377" y="8803119"/>
            <a:ext cx="10232019" cy="67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Figure:-Circuit Diagram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mart Waste Management System Predictive Route Optimization using IoT Sensor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>
            <a:lvl1pPr defTabSz="1389888">
              <a:defRPr sz="5700" b="1" spc="-57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Smart Waste Management System Predictive Route Optimization using IoT Sensor Data</a:t>
            </a:r>
          </a:p>
        </p:txBody>
      </p:sp>
      <p:sp>
        <p:nvSpPr>
          <p:cNvPr id="193" name="Problem:-Current systems do not use real-time data, so they cannot predict which bins need urgent attention, resulting in both wasted resources and overflowing bins.…"/>
          <p:cNvSpPr txBox="1">
            <a:spLocks noGrp="1"/>
          </p:cNvSpPr>
          <p:nvPr>
            <p:ph type="body" idx="1"/>
          </p:nvPr>
        </p:nvSpPr>
        <p:spPr>
          <a:xfrm>
            <a:off x="1206500" y="2741443"/>
            <a:ext cx="21971000" cy="9763073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Problem:-Current systems do not use real-time data, so they cannot predict which bins need urgent attention, resulting in both wasted resources and overflowing bins. 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Solution: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Machine Learning-based system that uses ultrasonic sensor data to predict when a bin will reach critical capacity, enabling optimized and need-based collection.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 Efficiency:</a:t>
            </a:r>
          </a:p>
          <a:p>
            <a:pPr lvl="1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is designed to minimize cost by eliminating the need for a Volume Sensor (VS) and relying only on fill-level data derived from ultrasonic sensors.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Data Inputs &amp; Feature Engineering:-"/>
          <p:cNvSpPr txBox="1">
            <a:spLocks noGrp="1"/>
          </p:cNvSpPr>
          <p:nvPr>
            <p:ph type="title"/>
          </p:nvPr>
        </p:nvSpPr>
        <p:spPr>
          <a:xfrm>
            <a:off x="1206500" y="635000"/>
            <a:ext cx="11044161" cy="1689100"/>
          </a:xfrm>
          <a:prstGeom prst="rect">
            <a:avLst/>
          </a:prstGeom>
        </p:spPr>
        <p:txBody>
          <a:bodyPr/>
          <a:lstStyle>
            <a:lvl1pPr defTabSz="1389888">
              <a:defRPr sz="5700" b="1" spc="-57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Data Inputs &amp; Feature Engineering:-</a:t>
            </a:r>
          </a:p>
        </p:txBody>
      </p:sp>
      <p:sp>
        <p:nvSpPr>
          <p:cNvPr id="196" name="Core Sensor Inputs:…"/>
          <p:cNvSpPr txBox="1">
            <a:spLocks noGrp="1"/>
          </p:cNvSpPr>
          <p:nvPr>
            <p:ph type="body" sz="half" idx="1"/>
          </p:nvPr>
        </p:nvSpPr>
        <p:spPr>
          <a:xfrm>
            <a:off x="1206500" y="2533858"/>
            <a:ext cx="9779000" cy="997065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586104">
              <a:spcBef>
                <a:spcPts val="0"/>
              </a:spcBef>
              <a:buSzTx/>
              <a:buNone/>
              <a:defRPr sz="3905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Core Sensor Inputs: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FL_B (Fill Level Before): Current bin capacity (%)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FL_A (Fill Level After): Capacity after a time interval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FL_B_3: Fill level 3 hours earlier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FL_B_12: Fill level 12 hours earlier</a:t>
            </a:r>
          </a:p>
          <a:p>
            <a:pPr marL="32461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These inputs provide both current and historical context.</a:t>
            </a:r>
          </a:p>
          <a:p>
            <a:pPr marL="32461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Feature Engineering (Fill Rate):-A derived feature is calculated to capture the rate of waste accumulation:</a:t>
            </a:r>
          </a:p>
          <a:p>
            <a:pPr marL="32461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L="32461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Impact:-This helps the model prioritize bins dynamically. For example: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 bin at 50% but filling rapidly is more critical</a:t>
            </a:r>
          </a:p>
          <a:p>
            <a:pPr marL="649223" lvl="1" indent="-324611" defTabSz="252475">
              <a:spcBef>
                <a:spcPts val="3300"/>
              </a:spcBef>
              <a:defRPr sz="284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A bin at 70% but stable is less urgent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Equation"/>
              <p:cNvSpPr txBox="1"/>
              <p:nvPr/>
            </p:nvSpPr>
            <p:spPr>
              <a:xfrm>
                <a:off x="3334797" y="9019663"/>
                <a:ext cx="4499367" cy="51968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defTabSz="914400" latinLnBrk="1">
                  <a:spcBef>
                    <a:spcPts val="0"/>
                  </a:spcBef>
                  <a:defRPr sz="1800">
                    <a:solidFill>
                      <a:srgbClr val="000000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Fill</m:t>
                      </m:r>
                      <m:r>
                        <m:rPr>
                          <m:nor/>
                        </m:rP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4000" i="1">
                          <a:solidFill>
                            <a:srgbClr val="52575F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sz="4000" i="1">
                              <a:solidFill>
                                <a:srgbClr val="52575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sz="4000">
                  <a:solidFill>
                    <a:srgbClr val="53585F"/>
                  </a:solidFill>
                </a:endParaRPr>
              </a:p>
            </p:txBody>
          </p:sp>
        </mc:Choice>
        <mc:Fallback>
          <p:sp>
            <p:nvSpPr>
              <p:cNvPr id="1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797" y="9019663"/>
                <a:ext cx="4499367" cy="519685"/>
              </a:xfrm>
              <a:prstGeom prst="rect">
                <a:avLst/>
              </a:prstGeom>
              <a:blipFill>
                <a:blip r:embed="rId3"/>
                <a:stretch>
                  <a:fillRect r="-5014" b="-1176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8" name="Screenshot 2026-04-07 at 1.38.27 AM.png" descr="Screenshot 2026-04-07 at 1.38.27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500" y="7083294"/>
            <a:ext cx="12351577" cy="6241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Screenshot 2026-04-07 at 1.40.11 AM.png" descr="Screenshot 2026-04-07 at 1.40.11 AM.png"/>
          <p:cNvPicPr>
            <a:picLocks noChangeAspect="1"/>
          </p:cNvPicPr>
          <p:nvPr/>
        </p:nvPicPr>
        <p:blipFill>
          <a:blip r:embed="rId5"/>
          <a:srcRect t="21223"/>
          <a:stretch>
            <a:fillRect/>
          </a:stretch>
        </p:blipFill>
        <p:spPr>
          <a:xfrm>
            <a:off x="10830735" y="635001"/>
            <a:ext cx="12351578" cy="59977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WhatsApp Image 2026-04-07 at 00.59.47.jpeg" descr="WhatsApp Image 2026-04-07 at 00.59.47.jpe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/>
          <a:stretch>
            <a:fillRect/>
          </a:stretch>
        </p:blipFill>
        <p:spPr>
          <a:xfrm>
            <a:off x="15309583" y="554531"/>
            <a:ext cx="7895513" cy="6905479"/>
          </a:xfrm>
          <a:prstGeom prst="rect">
            <a:avLst/>
          </a:prstGeom>
        </p:spPr>
      </p:pic>
      <p:sp>
        <p:nvSpPr>
          <p:cNvPr id="202" name="The Random Forest Engin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The Random Forest Engine</a:t>
            </a:r>
          </a:p>
        </p:txBody>
      </p:sp>
      <p:sp>
        <p:nvSpPr>
          <p:cNvPr id="203" name="Algorithm &amp; Hyper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36191">
              <a:defRPr sz="6300" spc="-63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Algorithm &amp; Hyperparameters</a:t>
            </a:r>
          </a:p>
        </p:txBody>
      </p:sp>
      <p:sp>
        <p:nvSpPr>
          <p:cNvPr id="204" name="Why Random Forest:Ultrasonic sensor readings can be noisy due to obstructions or environmental factors. Random Forest, an ensemble learning method, reduces this noise by averaging predictions from multiple decision trees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97179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Why Random Forest:Ultrasonic sensor readings can be noisy due to obstructions or environmental factors. Random Forest, an ensemble learning method, reduces this noise by averaging predictions from multiple decision trees.</a:t>
            </a:r>
          </a:p>
          <a:p>
            <a:pPr marL="297179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Hyperparameters:-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n_estimators = 100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Uses 100 decision trees to improve prediction stability and reduce variance.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class_weight = 'balanced'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Adjusts for class imbalance by giving more importance to rare but critical events (e.g., bin overflow).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random_state = 42</a:t>
            </a:r>
          </a:p>
          <a:p>
            <a:pPr marL="594359" lvl="1" indent="-297179" defTabSz="231139">
              <a:spcBef>
                <a:spcPts val="30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Ensures reproducibility by fixing randomness, making the model consistent across runs and deployments.</a:t>
            </a:r>
          </a:p>
        </p:txBody>
      </p:sp>
      <p:pic>
        <p:nvPicPr>
          <p:cNvPr id="205" name="WhatsApp Image 2026-04-07 at 00.59.47 (1).jpeg" descr="WhatsApp Image 2026-04-07 at 00.59.47 (1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8453" y="7616932"/>
            <a:ext cx="7717979" cy="56588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Approach B: Custom CNN vs. Transfer Learnin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Approach B: Custom CNN vs. Transfer Learning</a:t>
            </a:r>
          </a:p>
        </p:txBody>
      </p:sp>
      <p:sp>
        <p:nvSpPr>
          <p:cNvPr id="208" name="Waste Class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Waste Classification</a:t>
            </a:r>
          </a:p>
        </p:txBody>
      </p:sp>
      <p:sp>
        <p:nvSpPr>
          <p:cNvPr id="209" name="Dataset Overview: 2,527 images across 6 classes: Cardboard, Glass, Metal, Paper, Plastic, and Trash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74320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Dataset Overview:</a:t>
            </a:r>
            <a:r>
              <a:t> 2,527 images across 6 classes: Cardboard, Glass, Metal, Paper, Plastic, and Trash.</a:t>
            </a:r>
          </a:p>
          <a:p>
            <a:pPr marL="274320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Models Tested:</a:t>
            </a:r>
          </a:p>
          <a:p>
            <a:pPr marL="548640" lvl="1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Custom CNN:</a:t>
            </a:r>
            <a:r>
              <a:t> Built from scratch with 4 convolutional layers(Filters: 32 -&gt;64 -&gt; 128 -&gt; 256)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Activation Function: ReLU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Max Pooling layers (reduce dimensions)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Flatten layer (convert to 1D vector)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Dense Layer (256 neurons)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Dropout (0.5 to prevent overfitting)</a:t>
            </a:r>
          </a:p>
          <a:p>
            <a:pPr marL="822960" lvl="2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 Layer (6 classes using Softmax)</a:t>
            </a:r>
          </a:p>
          <a:p>
            <a:pPr marL="548640" lvl="1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MobileNetV2:</a:t>
            </a:r>
            <a:r>
              <a:t> Pre-trained transfer learning model.</a:t>
            </a:r>
          </a:p>
          <a:p>
            <a:pPr marL="548640" lvl="1" indent="-274320" defTabSz="213360">
              <a:spcBef>
                <a:spcPts val="28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EfficientNetB0:</a:t>
            </a:r>
            <a:r>
              <a:t> Pre-trained transfer learning model.</a:t>
            </a:r>
          </a:p>
        </p:txBody>
      </p:sp>
      <p:pic>
        <p:nvPicPr>
          <p:cNvPr id="210" name="1_Fgb4m8y5D2lBXZi5zoyq2w.jpg" descr="1_Fgb4m8y5D2lBXZi5zoyq2w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18802" y="4478675"/>
            <a:ext cx="13174176" cy="58945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WhatsApp Image 2026-04-06 at 22.51.27.jpeg" descr="WhatsApp Image 2026-04-06 at 22.51.27.jpeg"/>
          <p:cNvPicPr>
            <a:picLocks noGrp="1" noChangeAspect="1"/>
          </p:cNvPicPr>
          <p:nvPr>
            <p:ph type="pic" idx="21"/>
          </p:nvPr>
        </p:nvPicPr>
        <p:blipFill>
          <a:blip r:embed="rId3"/>
          <a:srcRect/>
          <a:stretch>
            <a:fillRect/>
          </a:stretch>
        </p:blipFill>
        <p:spPr>
          <a:xfrm>
            <a:off x="12853987" y="0"/>
            <a:ext cx="11058526" cy="13716000"/>
          </a:xfrm>
          <a:prstGeom prst="rect">
            <a:avLst/>
          </a:prstGeom>
        </p:spPr>
      </p:pic>
      <p:sp>
        <p:nvSpPr>
          <p:cNvPr id="213" name="Model:-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Model:-</a:t>
            </a:r>
          </a:p>
        </p:txBody>
      </p:sp>
      <p:sp>
        <p:nvSpPr>
          <p:cNvPr id="214" name="Model Comparison &amp; Resul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>
            <a:lvl1pPr defTabSz="1487424">
              <a:defRPr sz="6100" b="1" spc="-6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Model Comparison &amp; Results</a:t>
            </a:r>
          </a:p>
        </p:txBody>
      </p:sp>
      <p:sp>
        <p:nvSpPr>
          <p:cNvPr id="215" name="Custom CNN:-72.0% Accuracy.…"/>
          <p:cNvSpPr txBox="1">
            <a:spLocks noGrp="1"/>
          </p:cNvSpPr>
          <p:nvPr>
            <p:ph type="body" sz="half" idx="1"/>
          </p:nvPr>
        </p:nvSpPr>
        <p:spPr>
          <a:xfrm>
            <a:off x="1206500" y="3442069"/>
            <a:ext cx="9779000" cy="906244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34340" indent="-434340" defTabSz="337820">
              <a:spcBef>
                <a:spcPts val="4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 CNN:-72.0% Accuracy.</a:t>
            </a:r>
          </a:p>
          <a:p>
            <a:pPr marL="434340" indent="-434340" defTabSz="337820">
              <a:spcBef>
                <a:spcPts val="4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MobileNetV2:-28.2% Accuracy.</a:t>
            </a:r>
          </a:p>
          <a:p>
            <a:pPr marL="434340" indent="-434340" defTabSz="337820">
              <a:spcBef>
                <a:spcPts val="4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EfficientNetB0:-23.4% Accuracy.</a:t>
            </a:r>
          </a:p>
          <a:p>
            <a:pPr marL="434340" indent="-434340" defTabSz="337820">
              <a:spcBef>
                <a:spcPts val="4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Custom CNN</a:t>
            </a:r>
            <a:r>
              <a:t> achieved the highest accuracy of </a:t>
            </a:r>
            <a:r>
              <a:rPr b="1"/>
              <a:t>72.11%</a:t>
            </a:r>
            <a:r>
              <a:t>, while the pre-trained models (</a:t>
            </a:r>
            <a:r>
              <a:rPr b="1"/>
              <a:t>MobileNetV2</a:t>
            </a:r>
            <a:r>
              <a:t> and </a:t>
            </a:r>
            <a:r>
              <a:rPr b="1"/>
              <a:t>EfficientNetB0</a:t>
            </a:r>
            <a:r>
              <a:t>) failed significantly, with accuracies as low as </a:t>
            </a:r>
            <a:r>
              <a:rPr b="1"/>
              <a:t>23.4%</a:t>
            </a:r>
            <a:r>
              <a:t>.</a:t>
            </a:r>
          </a:p>
          <a:p>
            <a:pPr marL="434340" indent="-434340" defTabSz="337820">
              <a:spcBef>
                <a:spcPts val="4400"/>
              </a:spcBef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Custom CNN learns waste features from scratch, so it can correctly identify all six types, unlike pre-trained models which were biased toward “paper”.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ractical Workflo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Practical Workflow</a:t>
            </a:r>
          </a:p>
        </p:txBody>
      </p:sp>
      <p:sp>
        <p:nvSpPr>
          <p:cNvPr id="218" name="Detection: IR sensor senses a user approaching.…"/>
          <p:cNvSpPr txBox="1">
            <a:spLocks noGrp="1"/>
          </p:cNvSpPr>
          <p:nvPr>
            <p:ph type="body" idx="1"/>
          </p:nvPr>
        </p:nvSpPr>
        <p:spPr>
          <a:xfrm>
            <a:off x="1206500" y="2788078"/>
            <a:ext cx="21971000" cy="9716438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Detection:</a:t>
            </a:r>
            <a:r>
              <a:t> IR sensor senses a user approaching.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Capture:</a:t>
            </a:r>
            <a:r>
              <a:t> An integrated camera takes a photo of the waste item.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Identification:</a:t>
            </a:r>
            <a:r>
              <a:t> The Custom CNN classifies the waste type for sorting.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Monitoring:</a:t>
            </a:r>
            <a:r>
              <a:t> Ultrasonic sensors track bin capacity.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Logistics:</a:t>
            </a:r>
            <a:r>
              <a:t> The Random Forest model determines emptying urgency to optimize collection routes.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uture Improvements:"/>
          <p:cNvSpPr txBox="1">
            <a:spLocks noGrp="1"/>
          </p:cNvSpPr>
          <p:nvPr>
            <p:ph type="title"/>
          </p:nvPr>
        </p:nvSpPr>
        <p:spPr>
          <a:xfrm>
            <a:off x="1337899" y="635000"/>
            <a:ext cx="10447144" cy="1689100"/>
          </a:xfrm>
          <a:prstGeom prst="rect">
            <a:avLst/>
          </a:prstGeom>
        </p:spPr>
        <p:txBody>
          <a:bodyPr/>
          <a:lstStyle>
            <a:lvl1pPr defTabSz="2072640">
              <a:defRPr sz="8500" b="1" spc="-85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Future Improvements:</a:t>
            </a:r>
          </a:p>
        </p:txBody>
      </p:sp>
      <p:sp>
        <p:nvSpPr>
          <p:cNvPr id="221" name="Fine-tuning: Train base layers instead of freezing them.…"/>
          <p:cNvSpPr txBox="1">
            <a:spLocks noGrp="1"/>
          </p:cNvSpPr>
          <p:nvPr>
            <p:ph type="body" sz="half" idx="1"/>
          </p:nvPr>
        </p:nvSpPr>
        <p:spPr>
          <a:xfrm>
            <a:off x="1337899" y="2602050"/>
            <a:ext cx="10447144" cy="9902466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Fine-tuning:</a:t>
            </a:r>
            <a:r>
              <a:t> Train base layers instead of freezing them.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Data Augmentation:</a:t>
            </a:r>
            <a:r>
              <a:t> Increase image count for the "trash" category to fix imbalance.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Hybrid Sensing:</a:t>
            </a:r>
            <a:r>
              <a:t> Integrate weight sensors for better accuracy.</a:t>
            </a:r>
          </a:p>
        </p:txBody>
      </p:sp>
      <p:sp>
        <p:nvSpPr>
          <p:cNvPr id="222" name="Feasibility: Automated waste sorting is viable using custom-designed CNNs.…"/>
          <p:cNvSpPr txBox="1"/>
          <p:nvPr/>
        </p:nvSpPr>
        <p:spPr>
          <a:xfrm>
            <a:off x="12953340" y="2666943"/>
            <a:ext cx="10559405" cy="9902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457200" indent="-457200">
              <a:buSzPct val="100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Feasibility: </a:t>
            </a:r>
            <a:r>
              <a:rPr b="0"/>
              <a:t>Automated waste sorting is viable using custom-designed CNNs.</a:t>
            </a:r>
          </a:p>
          <a:p>
            <a:pPr marL="457200" indent="-457200">
              <a:buSzPct val="100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Efficiency: </a:t>
            </a:r>
            <a:r>
              <a:rPr b="0"/>
              <a:t>Using sensor-based Random Forest models provides highly reliable (89%) logistics data.</a:t>
            </a:r>
          </a:p>
          <a:p>
            <a:pPr marL="457200" indent="-457200">
              <a:buSzPct val="100000"/>
              <a:buChar char="•"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Impact: </a:t>
            </a:r>
            <a:r>
              <a:rPr b="0"/>
              <a:t>This hybrid system can significantly optimize collection routes and improve global recycling rates.</a:t>
            </a:r>
          </a:p>
        </p:txBody>
      </p:sp>
      <p:sp>
        <p:nvSpPr>
          <p:cNvPr id="223" name="Conclusion:-"/>
          <p:cNvSpPr txBox="1"/>
          <p:nvPr/>
        </p:nvSpPr>
        <p:spPr>
          <a:xfrm>
            <a:off x="12934202" y="634999"/>
            <a:ext cx="1044714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438400">
              <a:lnSpc>
                <a:spcPct val="90000"/>
              </a:lnSpc>
              <a:spcBef>
                <a:spcPts val="0"/>
              </a:spcBef>
              <a:defRPr sz="10000" b="1"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Conclusion:-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hank you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898</Words>
  <Application>Microsoft Office PowerPoint</Application>
  <PresentationFormat>Custom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Cambria Math</vt:lpstr>
      <vt:lpstr>Graphik</vt:lpstr>
      <vt:lpstr>Graphik Light</vt:lpstr>
      <vt:lpstr>Helvetica Neue</vt:lpstr>
      <vt:lpstr>Produkt Extralight</vt:lpstr>
      <vt:lpstr>Produkt Light</vt:lpstr>
      <vt:lpstr>36_DynamicWavesLight</vt:lpstr>
      <vt:lpstr>Smart Waste Management System</vt:lpstr>
      <vt:lpstr>Project Overview &amp; Abstract:-</vt:lpstr>
      <vt:lpstr>Part 1: Sensor-Based Bin Monitoring</vt:lpstr>
      <vt:lpstr>PowerPoint Presentation</vt:lpstr>
      <vt:lpstr>Smart Waste Management System Predictive Route Optimization using IoT Sensor Data</vt:lpstr>
      <vt:lpstr>Data Inputs &amp; Feature Engineering:-</vt:lpstr>
      <vt:lpstr>Algorithm &amp; Hyperparameters</vt:lpstr>
      <vt:lpstr>Waste Classification</vt:lpstr>
      <vt:lpstr>Model Comparison &amp; Results</vt:lpstr>
      <vt:lpstr>Practical Workflow</vt:lpstr>
      <vt:lpstr>Future Improvements: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satyajit barik</dc:creator>
  <cp:lastModifiedBy>satyajit barik</cp:lastModifiedBy>
  <cp:revision>1</cp:revision>
  <dcterms:modified xsi:type="dcterms:W3CDTF">2026-04-06T20:22:05Z</dcterms:modified>
</cp:coreProperties>
</file>